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" charset="1" panose="020B0503030501040103"/>
      <p:regular r:id="rId19"/>
    </p:embeddedFont>
    <p:embeddedFont>
      <p:font typeface="Arial Unicode Bold" charset="1" panose="020B0704020202020204"/>
      <p:regular r:id="rId20"/>
    </p:embeddedFont>
    <p:embeddedFont>
      <p:font typeface="Open Sans Bold" charset="1" panose="00000000000000000000"/>
      <p:regular r:id="rId21"/>
    </p:embeddedFont>
    <p:embeddedFont>
      <p:font typeface="Open Sans" charset="1" panose="00000000000000000000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27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1.png" Type="http://schemas.openxmlformats.org/officeDocument/2006/relationships/image"/><Relationship Id="rId8" Target="../media/image9.png" Type="http://schemas.openxmlformats.org/officeDocument/2006/relationships/image"/><Relationship Id="rId9" Target="https://cloudinary.hbs.edu/hbsit/image/fetch/q_auto,c_fill,ar_902:600,g_auto/f_webp/https%3A%2F%2Fwww.hbs.edu%2Fctfassets%2Fpublic%2Fimages%2F1vkR2bpEySxuPwivmh53dR%2FData%252520Visualization.jp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5479" y="5192036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0" y="0"/>
                </a:moveTo>
                <a:lnTo>
                  <a:pt x="31045746" y="0"/>
                </a:lnTo>
                <a:lnTo>
                  <a:pt x="31045746" y="5574178"/>
                </a:lnTo>
                <a:lnTo>
                  <a:pt x="0" y="55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6065" y="6966906"/>
            <a:ext cx="2826469" cy="2966714"/>
          </a:xfrm>
          <a:custGeom>
            <a:avLst/>
            <a:gdLst/>
            <a:ahLst/>
            <a:cxnLst/>
            <a:rect r="r" b="b" t="t" l="l"/>
            <a:pathLst>
              <a:path h="2966714" w="2826469">
                <a:moveTo>
                  <a:pt x="0" y="0"/>
                </a:moveTo>
                <a:lnTo>
                  <a:pt x="2826470" y="0"/>
                </a:lnTo>
                <a:lnTo>
                  <a:pt x="2826470" y="2966714"/>
                </a:lnTo>
                <a:lnTo>
                  <a:pt x="0" y="2966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4553">
            <a:off x="-2850713" y="-2627802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0"/>
                </a:moveTo>
                <a:lnTo>
                  <a:pt x="10935163" y="0"/>
                </a:lnTo>
                <a:lnTo>
                  <a:pt x="10935163" y="16994146"/>
                </a:lnTo>
                <a:lnTo>
                  <a:pt x="0" y="169941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772" r="-3476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37801" y="-1300696"/>
            <a:ext cx="3242997" cy="3403909"/>
          </a:xfrm>
          <a:custGeom>
            <a:avLst/>
            <a:gdLst/>
            <a:ahLst/>
            <a:cxnLst/>
            <a:rect r="r" b="b" t="t" l="l"/>
            <a:pathLst>
              <a:path h="3403909" w="3242997">
                <a:moveTo>
                  <a:pt x="0" y="0"/>
                </a:moveTo>
                <a:lnTo>
                  <a:pt x="3242998" y="0"/>
                </a:lnTo>
                <a:lnTo>
                  <a:pt x="3242998" y="3403910"/>
                </a:lnTo>
                <a:lnTo>
                  <a:pt x="0" y="3403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506068">
            <a:off x="-667528" y="-4359305"/>
            <a:ext cx="6126527" cy="9521129"/>
          </a:xfrm>
          <a:custGeom>
            <a:avLst/>
            <a:gdLst/>
            <a:ahLst/>
            <a:cxnLst/>
            <a:rect r="r" b="b" t="t" l="l"/>
            <a:pathLst>
              <a:path h="9521129" w="6126527">
                <a:moveTo>
                  <a:pt x="0" y="9521128"/>
                </a:moveTo>
                <a:lnTo>
                  <a:pt x="6126527" y="9521128"/>
                </a:lnTo>
                <a:lnTo>
                  <a:pt x="6126527" y="0"/>
                </a:lnTo>
                <a:lnTo>
                  <a:pt x="0" y="0"/>
                </a:lnTo>
                <a:lnTo>
                  <a:pt x="0" y="9521128"/>
                </a:lnTo>
                <a:close/>
              </a:path>
            </a:pathLst>
          </a:custGeom>
          <a:blipFill>
            <a:blip r:embed="rId9"/>
            <a:stretch>
              <a:fillRect l="0" t="-46772" r="-3476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95368" y="1028700"/>
            <a:ext cx="8496974" cy="8481525"/>
          </a:xfrm>
          <a:custGeom>
            <a:avLst/>
            <a:gdLst/>
            <a:ahLst/>
            <a:cxnLst/>
            <a:rect r="r" b="b" t="t" l="l"/>
            <a:pathLst>
              <a:path h="8481525" w="8496974">
                <a:moveTo>
                  <a:pt x="0" y="0"/>
                </a:moveTo>
                <a:lnTo>
                  <a:pt x="8496974" y="0"/>
                </a:lnTo>
                <a:lnTo>
                  <a:pt x="8496974" y="8481525"/>
                </a:lnTo>
                <a:lnTo>
                  <a:pt x="0" y="8481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0739" y="1549656"/>
            <a:ext cx="7284760" cy="72847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146975" y="5642256"/>
            <a:ext cx="4423171" cy="4415129"/>
          </a:xfrm>
          <a:custGeom>
            <a:avLst/>
            <a:gdLst/>
            <a:ahLst/>
            <a:cxnLst/>
            <a:rect r="r" b="b" t="t" l="l"/>
            <a:pathLst>
              <a:path h="4415129" w="4423171">
                <a:moveTo>
                  <a:pt x="0" y="0"/>
                </a:moveTo>
                <a:lnTo>
                  <a:pt x="4423171" y="0"/>
                </a:lnTo>
                <a:lnTo>
                  <a:pt x="4423171" y="4415129"/>
                </a:lnTo>
                <a:lnTo>
                  <a:pt x="0" y="4415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4458649" y="6241769"/>
            <a:ext cx="3386997" cy="338699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41244" y="8859045"/>
            <a:ext cx="8899014" cy="808037"/>
            <a:chOff x="0" y="0"/>
            <a:chExt cx="4475736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75736" cy="406400"/>
            </a:xfrm>
            <a:custGeom>
              <a:avLst/>
              <a:gdLst/>
              <a:ahLst/>
              <a:cxnLst/>
              <a:rect r="r" b="b" t="t" l="l"/>
              <a:pathLst>
                <a:path h="406400" w="4475736">
                  <a:moveTo>
                    <a:pt x="4272536" y="0"/>
                  </a:moveTo>
                  <a:cubicBezTo>
                    <a:pt x="4384760" y="0"/>
                    <a:pt x="4475736" y="90976"/>
                    <a:pt x="4475736" y="203200"/>
                  </a:cubicBezTo>
                  <a:cubicBezTo>
                    <a:pt x="4475736" y="315424"/>
                    <a:pt x="4384760" y="406400"/>
                    <a:pt x="427253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47573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394718" y="7810535"/>
            <a:ext cx="717894" cy="719146"/>
          </a:xfrm>
          <a:custGeom>
            <a:avLst/>
            <a:gdLst/>
            <a:ahLst/>
            <a:cxnLst/>
            <a:rect r="r" b="b" t="t" l="l"/>
            <a:pathLst>
              <a:path h="719146" w="717894">
                <a:moveTo>
                  <a:pt x="0" y="0"/>
                </a:moveTo>
                <a:lnTo>
                  <a:pt x="717895" y="0"/>
                </a:lnTo>
                <a:lnTo>
                  <a:pt x="717895" y="719147"/>
                </a:lnTo>
                <a:lnTo>
                  <a:pt x="0" y="7191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09190" b="-110355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328545" y="5033439"/>
            <a:ext cx="7950178" cy="906866"/>
            <a:chOff x="0" y="0"/>
            <a:chExt cx="2093874" cy="2388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3874" cy="238845"/>
            </a:xfrm>
            <a:custGeom>
              <a:avLst/>
              <a:gdLst/>
              <a:ahLst/>
              <a:cxnLst/>
              <a:rect r="r" b="b" t="t" l="l"/>
              <a:pathLst>
                <a:path h="238845" w="2093874">
                  <a:moveTo>
                    <a:pt x="17528" y="0"/>
                  </a:moveTo>
                  <a:lnTo>
                    <a:pt x="2076346" y="0"/>
                  </a:lnTo>
                  <a:cubicBezTo>
                    <a:pt x="2086026" y="0"/>
                    <a:pt x="2093874" y="7848"/>
                    <a:pt x="2093874" y="17528"/>
                  </a:cubicBezTo>
                  <a:lnTo>
                    <a:pt x="2093874" y="221317"/>
                  </a:lnTo>
                  <a:cubicBezTo>
                    <a:pt x="2093874" y="230998"/>
                    <a:pt x="2086026" y="238845"/>
                    <a:pt x="2076346" y="238845"/>
                  </a:cubicBezTo>
                  <a:lnTo>
                    <a:pt x="17528" y="238845"/>
                  </a:lnTo>
                  <a:cubicBezTo>
                    <a:pt x="7848" y="238845"/>
                    <a:pt x="0" y="230998"/>
                    <a:pt x="0" y="221317"/>
                  </a:cubicBezTo>
                  <a:lnTo>
                    <a:pt x="0" y="17528"/>
                  </a:lnTo>
                  <a:cubicBezTo>
                    <a:pt x="0" y="7848"/>
                    <a:pt x="7848" y="0"/>
                    <a:pt x="175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93874" cy="286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Storytelling, Dashboarding &amp; Business Insights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54090" y="2355045"/>
            <a:ext cx="4798058" cy="5237453"/>
          </a:xfrm>
          <a:custGeom>
            <a:avLst/>
            <a:gdLst/>
            <a:ahLst/>
            <a:cxnLst/>
            <a:rect r="r" b="b" t="t" l="l"/>
            <a:pathLst>
              <a:path h="5237453" w="4798058">
                <a:moveTo>
                  <a:pt x="0" y="0"/>
                </a:moveTo>
                <a:lnTo>
                  <a:pt x="4798058" y="0"/>
                </a:lnTo>
                <a:lnTo>
                  <a:pt x="4798058" y="5237454"/>
                </a:lnTo>
                <a:lnTo>
                  <a:pt x="0" y="52374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3526" t="-6793" r="0" b="-3931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75751" y="6666693"/>
            <a:ext cx="4352794" cy="2366256"/>
          </a:xfrm>
          <a:custGeom>
            <a:avLst/>
            <a:gdLst/>
            <a:ahLst/>
            <a:cxnLst/>
            <a:rect r="r" b="b" t="t" l="l"/>
            <a:pathLst>
              <a:path h="2366256" w="4352794">
                <a:moveTo>
                  <a:pt x="0" y="0"/>
                </a:moveTo>
                <a:lnTo>
                  <a:pt x="4352794" y="0"/>
                </a:lnTo>
                <a:lnTo>
                  <a:pt x="4352794" y="2366256"/>
                </a:lnTo>
                <a:lnTo>
                  <a:pt x="0" y="23662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156" t="-30147" r="-13673" b="-2896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237534" y="2393145"/>
            <a:ext cx="11050466" cy="175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b="true" sz="6043" spc="-332">
                <a:gradFill>
                  <a:gsLst>
                    <a:gs pos="0">
                      <a:srgbClr val="7794B6">
                        <a:alpha val="100000"/>
                      </a:srgbClr>
                    </a:gs>
                    <a:gs pos="100000">
                      <a:srgbClr val="DFFAFF">
                        <a:alpha val="100000"/>
                      </a:srgbClr>
                    </a:gs>
                  </a:gsLst>
                  <a:lin ang="1890000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CUSTOMER SEGMENTATION &amp; MARKETING ANALYTICS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3183" y="8809038"/>
            <a:ext cx="422341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By,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C. Chetana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861311" y="8936082"/>
            <a:ext cx="632166" cy="589878"/>
          </a:xfrm>
          <a:custGeom>
            <a:avLst/>
            <a:gdLst/>
            <a:ahLst/>
            <a:cxnLst/>
            <a:rect r="r" b="b" t="t" l="l"/>
            <a:pathLst>
              <a:path h="589878" w="632166">
                <a:moveTo>
                  <a:pt x="0" y="0"/>
                </a:moveTo>
                <a:lnTo>
                  <a:pt x="632166" y="0"/>
                </a:lnTo>
                <a:lnTo>
                  <a:pt x="632166" y="589878"/>
                </a:lnTo>
                <a:lnTo>
                  <a:pt x="0" y="5898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11864" y="5320495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0" y="0"/>
                </a:moveTo>
                <a:lnTo>
                  <a:pt x="31045746" y="0"/>
                </a:lnTo>
                <a:lnTo>
                  <a:pt x="31045746" y="5574178"/>
                </a:lnTo>
                <a:lnTo>
                  <a:pt x="0" y="55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75999">
            <a:off x="10110948" y="-2546578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10935163" y="0"/>
                </a:moveTo>
                <a:lnTo>
                  <a:pt x="0" y="0"/>
                </a:lnTo>
                <a:lnTo>
                  <a:pt x="0" y="16994145"/>
                </a:lnTo>
                <a:lnTo>
                  <a:pt x="10935163" y="16994145"/>
                </a:lnTo>
                <a:lnTo>
                  <a:pt x="10935163" y="0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144603" y="98416"/>
            <a:ext cx="3022820" cy="3172807"/>
          </a:xfrm>
          <a:custGeom>
            <a:avLst/>
            <a:gdLst/>
            <a:ahLst/>
            <a:cxnLst/>
            <a:rect r="r" b="b" t="t" l="l"/>
            <a:pathLst>
              <a:path h="3172807" w="3022820">
                <a:moveTo>
                  <a:pt x="3022819" y="0"/>
                </a:moveTo>
                <a:lnTo>
                  <a:pt x="0" y="0"/>
                </a:lnTo>
                <a:lnTo>
                  <a:pt x="0" y="3172807"/>
                </a:lnTo>
                <a:lnTo>
                  <a:pt x="3022819" y="3172807"/>
                </a:lnTo>
                <a:lnTo>
                  <a:pt x="3022819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11410" y="6521181"/>
            <a:ext cx="3022820" cy="3172807"/>
          </a:xfrm>
          <a:custGeom>
            <a:avLst/>
            <a:gdLst/>
            <a:ahLst/>
            <a:cxnLst/>
            <a:rect r="r" b="b" t="t" l="l"/>
            <a:pathLst>
              <a:path h="3172807" w="3022820">
                <a:moveTo>
                  <a:pt x="3022820" y="0"/>
                </a:moveTo>
                <a:lnTo>
                  <a:pt x="0" y="0"/>
                </a:lnTo>
                <a:lnTo>
                  <a:pt x="0" y="3172807"/>
                </a:lnTo>
                <a:lnTo>
                  <a:pt x="3022820" y="3172807"/>
                </a:lnTo>
                <a:lnTo>
                  <a:pt x="3022820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44603" y="785399"/>
            <a:ext cx="9255701" cy="9238872"/>
          </a:xfrm>
          <a:custGeom>
            <a:avLst/>
            <a:gdLst/>
            <a:ahLst/>
            <a:cxnLst/>
            <a:rect r="r" b="b" t="t" l="l"/>
            <a:pathLst>
              <a:path h="9238872" w="9255701">
                <a:moveTo>
                  <a:pt x="0" y="0"/>
                </a:moveTo>
                <a:lnTo>
                  <a:pt x="9255701" y="0"/>
                </a:lnTo>
                <a:lnTo>
                  <a:pt x="9255701" y="9238872"/>
                </a:lnTo>
                <a:lnTo>
                  <a:pt x="0" y="9238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4831" y="1323056"/>
            <a:ext cx="7935244" cy="79352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11136777" y="1684819"/>
            <a:ext cx="7271352" cy="72713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04557" y="1952599"/>
            <a:ext cx="6735792" cy="67357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4931" t="0" r="-2493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5056" y="4715625"/>
            <a:ext cx="8428215" cy="855751"/>
            <a:chOff x="0" y="0"/>
            <a:chExt cx="2881172" cy="292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81172" cy="292537"/>
            </a:xfrm>
            <a:custGeom>
              <a:avLst/>
              <a:gdLst/>
              <a:ahLst/>
              <a:cxnLst/>
              <a:rect r="r" b="b" t="t" l="l"/>
              <a:pathLst>
                <a:path h="292537" w="2881172">
                  <a:moveTo>
                    <a:pt x="2677972" y="0"/>
                  </a:moveTo>
                  <a:cubicBezTo>
                    <a:pt x="2790196" y="0"/>
                    <a:pt x="2881172" y="65487"/>
                    <a:pt x="2881172" y="146269"/>
                  </a:cubicBezTo>
                  <a:cubicBezTo>
                    <a:pt x="2881172" y="227050"/>
                    <a:pt x="2790196" y="292537"/>
                    <a:pt x="2677972" y="292537"/>
                  </a:cubicBezTo>
                  <a:lnTo>
                    <a:pt x="203200" y="292537"/>
                  </a:lnTo>
                  <a:cubicBezTo>
                    <a:pt x="90976" y="292537"/>
                    <a:pt x="0" y="227050"/>
                    <a:pt x="0" y="146269"/>
                  </a:cubicBezTo>
                  <a:cubicBezTo>
                    <a:pt x="0" y="654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81172" cy="330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0583" y="1133844"/>
            <a:ext cx="13397325" cy="183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13"/>
              </a:lnSpc>
            </a:pPr>
            <a:r>
              <a:rPr lang="en-US" b="true" sz="5099" spc="-214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Understanding Customer Behavior at Scale</a:t>
            </a:r>
          </a:p>
          <a:p>
            <a:pPr algn="r">
              <a:lnSpc>
                <a:spcPts val="854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65056" y="2335645"/>
            <a:ext cx="8767889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project analyzes customer demographics, spending patterns, purchase channels, campaign responses, and satisfaction signals to support data-driven decision-making across marketing and sales teams.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865056" y="7187245"/>
            <a:ext cx="8428215" cy="855751"/>
            <a:chOff x="0" y="0"/>
            <a:chExt cx="2881172" cy="2925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81172" cy="292537"/>
            </a:xfrm>
            <a:custGeom>
              <a:avLst/>
              <a:gdLst/>
              <a:ahLst/>
              <a:cxnLst/>
              <a:rect r="r" b="b" t="t" l="l"/>
              <a:pathLst>
                <a:path h="292537" w="2881172">
                  <a:moveTo>
                    <a:pt x="2677972" y="0"/>
                  </a:moveTo>
                  <a:cubicBezTo>
                    <a:pt x="2790196" y="0"/>
                    <a:pt x="2881172" y="65487"/>
                    <a:pt x="2881172" y="146269"/>
                  </a:cubicBezTo>
                  <a:cubicBezTo>
                    <a:pt x="2881172" y="227050"/>
                    <a:pt x="2790196" y="292537"/>
                    <a:pt x="2677972" y="292537"/>
                  </a:cubicBezTo>
                  <a:lnTo>
                    <a:pt x="203200" y="292537"/>
                  </a:lnTo>
                  <a:cubicBezTo>
                    <a:pt x="90976" y="292537"/>
                    <a:pt x="0" y="227050"/>
                    <a:pt x="0" y="146269"/>
                  </a:cubicBezTo>
                  <a:cubicBezTo>
                    <a:pt x="0" y="654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881172" cy="330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5056" y="5950494"/>
            <a:ext cx="8428215" cy="855751"/>
            <a:chOff x="0" y="0"/>
            <a:chExt cx="2881172" cy="292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81172" cy="292537"/>
            </a:xfrm>
            <a:custGeom>
              <a:avLst/>
              <a:gdLst/>
              <a:ahLst/>
              <a:cxnLst/>
              <a:rect r="r" b="b" t="t" l="l"/>
              <a:pathLst>
                <a:path h="292537" w="2881172">
                  <a:moveTo>
                    <a:pt x="2677972" y="0"/>
                  </a:moveTo>
                  <a:cubicBezTo>
                    <a:pt x="2790196" y="0"/>
                    <a:pt x="2881172" y="65487"/>
                    <a:pt x="2881172" y="146269"/>
                  </a:cubicBezTo>
                  <a:cubicBezTo>
                    <a:pt x="2881172" y="227050"/>
                    <a:pt x="2790196" y="292537"/>
                    <a:pt x="2677972" y="292537"/>
                  </a:cubicBezTo>
                  <a:lnTo>
                    <a:pt x="203200" y="292537"/>
                  </a:lnTo>
                  <a:cubicBezTo>
                    <a:pt x="90976" y="292537"/>
                    <a:pt x="0" y="227050"/>
                    <a:pt x="0" y="146269"/>
                  </a:cubicBezTo>
                  <a:cubicBezTo>
                    <a:pt x="0" y="654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881172" cy="330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20583" y="4857075"/>
            <a:ext cx="8917159" cy="8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  <a:spcBef>
                <a:spcPct val="0"/>
              </a:spcBef>
            </a:pPr>
            <a:r>
              <a:rPr lang="en-US" b="true" sz="251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51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ehavioral Analysis </a:t>
            </a:r>
          </a:p>
          <a:p>
            <a:pPr algn="ctr">
              <a:lnSpc>
                <a:spcPts val="3514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20583" y="6135151"/>
            <a:ext cx="8917159" cy="130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</a:pPr>
            <a:r>
              <a:rPr lang="en-US" sz="251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Campaign Effectiveness</a:t>
            </a:r>
          </a:p>
          <a:p>
            <a:pPr algn="ctr">
              <a:lnSpc>
                <a:spcPts val="3514"/>
              </a:lnSpc>
            </a:pPr>
          </a:p>
          <a:p>
            <a:pPr algn="ctr">
              <a:lnSpc>
                <a:spcPts val="351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20583" y="7413226"/>
            <a:ext cx="8917159" cy="8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</a:pPr>
            <a:r>
              <a:rPr lang="en-US" sz="251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Segmentation</a:t>
            </a:r>
          </a:p>
          <a:p>
            <a:pPr algn="ctr">
              <a:lnSpc>
                <a:spcPts val="35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304176" y="5803338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5999">
            <a:off x="-3874875" y="-2433152"/>
            <a:ext cx="9989469" cy="16994145"/>
          </a:xfrm>
          <a:custGeom>
            <a:avLst/>
            <a:gdLst/>
            <a:ahLst/>
            <a:cxnLst/>
            <a:rect r="r" b="b" t="t" l="l"/>
            <a:pathLst>
              <a:path h="16994145" w="9989469">
                <a:moveTo>
                  <a:pt x="0" y="0"/>
                </a:moveTo>
                <a:lnTo>
                  <a:pt x="9989469" y="0"/>
                </a:lnTo>
                <a:lnTo>
                  <a:pt x="9989469" y="16994146"/>
                </a:lnTo>
                <a:lnTo>
                  <a:pt x="0" y="16994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772" r="-475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18697" y="116632"/>
            <a:ext cx="3242997" cy="3403909"/>
          </a:xfrm>
          <a:custGeom>
            <a:avLst/>
            <a:gdLst/>
            <a:ahLst/>
            <a:cxnLst/>
            <a:rect r="r" b="b" t="t" l="l"/>
            <a:pathLst>
              <a:path h="3403909" w="3242997">
                <a:moveTo>
                  <a:pt x="0" y="0"/>
                </a:moveTo>
                <a:lnTo>
                  <a:pt x="3242997" y="0"/>
                </a:lnTo>
                <a:lnTo>
                  <a:pt x="3242997" y="3403909"/>
                </a:lnTo>
                <a:lnTo>
                  <a:pt x="0" y="34039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21239" y="7155116"/>
            <a:ext cx="2733522" cy="2869155"/>
          </a:xfrm>
          <a:custGeom>
            <a:avLst/>
            <a:gdLst/>
            <a:ahLst/>
            <a:cxnLst/>
            <a:rect r="r" b="b" t="t" l="l"/>
            <a:pathLst>
              <a:path h="2869155" w="2733522">
                <a:moveTo>
                  <a:pt x="0" y="0"/>
                </a:moveTo>
                <a:lnTo>
                  <a:pt x="2733522" y="0"/>
                </a:lnTo>
                <a:lnTo>
                  <a:pt x="2733522" y="2869155"/>
                </a:lnTo>
                <a:lnTo>
                  <a:pt x="0" y="2869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76098" y="524064"/>
            <a:ext cx="9255701" cy="9238872"/>
          </a:xfrm>
          <a:custGeom>
            <a:avLst/>
            <a:gdLst/>
            <a:ahLst/>
            <a:cxnLst/>
            <a:rect r="r" b="b" t="t" l="l"/>
            <a:pathLst>
              <a:path h="9238872" w="9255701">
                <a:moveTo>
                  <a:pt x="0" y="0"/>
                </a:moveTo>
                <a:lnTo>
                  <a:pt x="9255701" y="0"/>
                </a:lnTo>
                <a:lnTo>
                  <a:pt x="9255701" y="9238872"/>
                </a:lnTo>
                <a:lnTo>
                  <a:pt x="0" y="9238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22769" y="1175878"/>
            <a:ext cx="7935244" cy="79352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A4A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-152558" y="1556360"/>
            <a:ext cx="7271352" cy="72713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94753" y="452729"/>
            <a:ext cx="5832404" cy="148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Dataset Overview</a:t>
            </a:r>
          </a:p>
          <a:p>
            <a:pPr algn="l">
              <a:lnSpc>
                <a:spcPts val="5813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196607" y="3520541"/>
            <a:ext cx="2574715" cy="634029"/>
            <a:chOff x="0" y="0"/>
            <a:chExt cx="1650342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0342" cy="406400"/>
            </a:xfrm>
            <a:custGeom>
              <a:avLst/>
              <a:gdLst/>
              <a:ahLst/>
              <a:cxnLst/>
              <a:rect r="r" b="b" t="t" l="l"/>
              <a:pathLst>
                <a:path h="406400" w="1650342">
                  <a:moveTo>
                    <a:pt x="1447142" y="0"/>
                  </a:moveTo>
                  <a:cubicBezTo>
                    <a:pt x="1559366" y="0"/>
                    <a:pt x="1650342" y="90976"/>
                    <a:pt x="1650342" y="203200"/>
                  </a:cubicBezTo>
                  <a:cubicBezTo>
                    <a:pt x="1650342" y="315424"/>
                    <a:pt x="1559366" y="406400"/>
                    <a:pt x="14471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D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503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03118" y="1770961"/>
            <a:ext cx="889792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dataset combines demographic, transactional, and behavioral data across five key dimentions.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072861" y="3571301"/>
            <a:ext cx="602698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Age, education, marital status, and household composition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208554" y="3628451"/>
            <a:ext cx="4550820" cy="78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700" spc="-113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Demographics</a:t>
            </a:r>
          </a:p>
          <a:p>
            <a:pPr algn="ctr">
              <a:lnSpc>
                <a:spcPts val="3078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2713788"/>
            <a:ext cx="7538780" cy="4859423"/>
          </a:xfrm>
          <a:custGeom>
            <a:avLst/>
            <a:gdLst/>
            <a:ahLst/>
            <a:cxnLst/>
            <a:rect r="r" b="b" t="t" l="l"/>
            <a:pathLst>
              <a:path h="4859423" w="7538780">
                <a:moveTo>
                  <a:pt x="0" y="0"/>
                </a:moveTo>
                <a:lnTo>
                  <a:pt x="7538780" y="0"/>
                </a:lnTo>
                <a:lnTo>
                  <a:pt x="7538780" y="4859424"/>
                </a:lnTo>
                <a:lnTo>
                  <a:pt x="0" y="48594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85" r="-52052" b="-2485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203118" y="6063921"/>
            <a:ext cx="2574715" cy="634029"/>
            <a:chOff x="0" y="0"/>
            <a:chExt cx="1650342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50342" cy="406400"/>
            </a:xfrm>
            <a:custGeom>
              <a:avLst/>
              <a:gdLst/>
              <a:ahLst/>
              <a:cxnLst/>
              <a:rect r="r" b="b" t="t" l="l"/>
              <a:pathLst>
                <a:path h="406400" w="1650342">
                  <a:moveTo>
                    <a:pt x="1447142" y="0"/>
                  </a:moveTo>
                  <a:cubicBezTo>
                    <a:pt x="1559366" y="0"/>
                    <a:pt x="1650342" y="90976"/>
                    <a:pt x="1650342" y="203200"/>
                  </a:cubicBezTo>
                  <a:cubicBezTo>
                    <a:pt x="1650342" y="315424"/>
                    <a:pt x="1559366" y="406400"/>
                    <a:pt x="14471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D4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503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03118" y="7346145"/>
            <a:ext cx="2574715" cy="634029"/>
            <a:chOff x="0" y="0"/>
            <a:chExt cx="1650342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50342" cy="406400"/>
            </a:xfrm>
            <a:custGeom>
              <a:avLst/>
              <a:gdLst/>
              <a:ahLst/>
              <a:cxnLst/>
              <a:rect r="r" b="b" t="t" l="l"/>
              <a:pathLst>
                <a:path h="406400" w="1650342">
                  <a:moveTo>
                    <a:pt x="1447142" y="0"/>
                  </a:moveTo>
                  <a:cubicBezTo>
                    <a:pt x="1559366" y="0"/>
                    <a:pt x="1650342" y="90976"/>
                    <a:pt x="1650342" y="203200"/>
                  </a:cubicBezTo>
                  <a:cubicBezTo>
                    <a:pt x="1650342" y="315424"/>
                    <a:pt x="1559366" y="406400"/>
                    <a:pt x="14471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D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503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96607" y="4768469"/>
            <a:ext cx="3782646" cy="634029"/>
            <a:chOff x="0" y="0"/>
            <a:chExt cx="2424601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24601" cy="406400"/>
            </a:xfrm>
            <a:custGeom>
              <a:avLst/>
              <a:gdLst/>
              <a:ahLst/>
              <a:cxnLst/>
              <a:rect r="r" b="b" t="t" l="l"/>
              <a:pathLst>
                <a:path h="406400" w="2424601">
                  <a:moveTo>
                    <a:pt x="2221401" y="0"/>
                  </a:moveTo>
                  <a:cubicBezTo>
                    <a:pt x="2333626" y="0"/>
                    <a:pt x="2424601" y="90976"/>
                    <a:pt x="2424601" y="203200"/>
                  </a:cubicBezTo>
                  <a:cubicBezTo>
                    <a:pt x="2424601" y="315424"/>
                    <a:pt x="2333626" y="406400"/>
                    <a:pt x="222140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D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42460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655191" y="4799987"/>
            <a:ext cx="4611993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700" spc="-113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Income &amp; Expenses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45835" y="4806550"/>
            <a:ext cx="603805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Annual income and multi-category expenditure data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7240518" y="6206364"/>
            <a:ext cx="4611993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700" spc="-113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Responses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40518" y="7476660"/>
            <a:ext cx="4611993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700" spc="-113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Complaints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94753" y="7419510"/>
            <a:ext cx="79832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Acceptance rates across marketing campaigns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573261" y="6157046"/>
            <a:ext cx="79832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Customer service complaint frequency and patterns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8196607" y="8735736"/>
            <a:ext cx="3529161" cy="634029"/>
            <a:chOff x="0" y="0"/>
            <a:chExt cx="2262123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2123" cy="406400"/>
            </a:xfrm>
            <a:custGeom>
              <a:avLst/>
              <a:gdLst/>
              <a:ahLst/>
              <a:cxnLst/>
              <a:rect r="r" b="b" t="t" l="l"/>
              <a:pathLst>
                <a:path h="406400" w="2262123">
                  <a:moveTo>
                    <a:pt x="2058923" y="0"/>
                  </a:moveTo>
                  <a:cubicBezTo>
                    <a:pt x="2171147" y="0"/>
                    <a:pt x="2262123" y="90976"/>
                    <a:pt x="2262123" y="203200"/>
                  </a:cubicBezTo>
                  <a:cubicBezTo>
                    <a:pt x="2262123" y="315424"/>
                    <a:pt x="2171147" y="406400"/>
                    <a:pt x="20589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D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6212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545835" y="8427028"/>
            <a:ext cx="674216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Web, catalog, and in-store transaction records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55191" y="8866251"/>
            <a:ext cx="4611993" cy="39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700" spc="-113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Purchase Channels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037182" y="6717969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483172">
            <a:off x="-1973571" y="-2412248"/>
            <a:ext cx="7371980" cy="8275758"/>
          </a:xfrm>
          <a:custGeom>
            <a:avLst/>
            <a:gdLst/>
            <a:ahLst/>
            <a:cxnLst/>
            <a:rect r="r" b="b" t="t" l="l"/>
            <a:pathLst>
              <a:path h="8275758" w="7371980">
                <a:moveTo>
                  <a:pt x="0" y="8275758"/>
                </a:moveTo>
                <a:lnTo>
                  <a:pt x="7371980" y="8275758"/>
                </a:lnTo>
                <a:lnTo>
                  <a:pt x="7371980" y="0"/>
                </a:lnTo>
                <a:lnTo>
                  <a:pt x="0" y="0"/>
                </a:lnTo>
                <a:lnTo>
                  <a:pt x="0" y="8275758"/>
                </a:lnTo>
                <a:close/>
              </a:path>
            </a:pathLst>
          </a:custGeom>
          <a:blipFill>
            <a:blip r:embed="rId4"/>
            <a:stretch>
              <a:fillRect l="0" t="-74203" r="-15543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481999">
            <a:off x="12993089" y="-2411696"/>
            <a:ext cx="7371980" cy="8275758"/>
          </a:xfrm>
          <a:custGeom>
            <a:avLst/>
            <a:gdLst/>
            <a:ahLst/>
            <a:cxnLst/>
            <a:rect r="r" b="b" t="t" l="l"/>
            <a:pathLst>
              <a:path h="8275758" w="7371980">
                <a:moveTo>
                  <a:pt x="7371980" y="8275758"/>
                </a:moveTo>
                <a:lnTo>
                  <a:pt x="0" y="8275758"/>
                </a:lnTo>
                <a:lnTo>
                  <a:pt x="0" y="0"/>
                </a:lnTo>
                <a:lnTo>
                  <a:pt x="7371980" y="0"/>
                </a:lnTo>
                <a:lnTo>
                  <a:pt x="7371980" y="8275758"/>
                </a:lnTo>
                <a:close/>
              </a:path>
            </a:pathLst>
          </a:custGeom>
          <a:blipFill>
            <a:blip r:embed="rId4"/>
            <a:stretch>
              <a:fillRect l="0" t="-74203" r="-1554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30676" y="6984414"/>
            <a:ext cx="2914648" cy="3059268"/>
          </a:xfrm>
          <a:custGeom>
            <a:avLst/>
            <a:gdLst/>
            <a:ahLst/>
            <a:cxnLst/>
            <a:rect r="r" b="b" t="t" l="l"/>
            <a:pathLst>
              <a:path h="3059268" w="2914648">
                <a:moveTo>
                  <a:pt x="0" y="0"/>
                </a:moveTo>
                <a:lnTo>
                  <a:pt x="2914648" y="0"/>
                </a:lnTo>
                <a:lnTo>
                  <a:pt x="2914648" y="3059268"/>
                </a:lnTo>
                <a:lnTo>
                  <a:pt x="0" y="3059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733503" y="6400955"/>
            <a:ext cx="2914648" cy="3059268"/>
          </a:xfrm>
          <a:custGeom>
            <a:avLst/>
            <a:gdLst/>
            <a:ahLst/>
            <a:cxnLst/>
            <a:rect r="r" b="b" t="t" l="l"/>
            <a:pathLst>
              <a:path h="3059268" w="2914648">
                <a:moveTo>
                  <a:pt x="2914648" y="0"/>
                </a:moveTo>
                <a:lnTo>
                  <a:pt x="0" y="0"/>
                </a:lnTo>
                <a:lnTo>
                  <a:pt x="0" y="3059268"/>
                </a:lnTo>
                <a:lnTo>
                  <a:pt x="2914648" y="3059268"/>
                </a:lnTo>
                <a:lnTo>
                  <a:pt x="2914648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24871" y="3995052"/>
            <a:ext cx="11301259" cy="1938310"/>
          </a:xfrm>
          <a:custGeom>
            <a:avLst/>
            <a:gdLst/>
            <a:ahLst/>
            <a:cxnLst/>
            <a:rect r="r" b="b" t="t" l="l"/>
            <a:pathLst>
              <a:path h="1938310" w="11301259">
                <a:moveTo>
                  <a:pt x="0" y="0"/>
                </a:moveTo>
                <a:lnTo>
                  <a:pt x="11301259" y="0"/>
                </a:lnTo>
                <a:lnTo>
                  <a:pt x="11301259" y="1938310"/>
                </a:lnTo>
                <a:lnTo>
                  <a:pt x="0" y="19383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827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85691" y="661606"/>
            <a:ext cx="8293556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b="true" sz="5100" spc="-214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KPI Overview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717969"/>
            <a:ext cx="7523741" cy="634029"/>
            <a:chOff x="0" y="0"/>
            <a:chExt cx="482256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2570" cy="406400"/>
            </a:xfrm>
            <a:custGeom>
              <a:avLst/>
              <a:gdLst/>
              <a:ahLst/>
              <a:cxnLst/>
              <a:rect r="r" b="b" t="t" l="l"/>
              <a:pathLst>
                <a:path h="406400" w="4822570">
                  <a:moveTo>
                    <a:pt x="4619370" y="0"/>
                  </a:moveTo>
                  <a:cubicBezTo>
                    <a:pt x="4731594" y="0"/>
                    <a:pt x="4822570" y="90976"/>
                    <a:pt x="4822570" y="203200"/>
                  </a:cubicBezTo>
                  <a:cubicBezTo>
                    <a:pt x="4822570" y="315424"/>
                    <a:pt x="4731594" y="406400"/>
                    <a:pt x="46193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2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54545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50% Campaign Acceptance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0351" y="6717969"/>
            <a:ext cx="7523741" cy="634029"/>
            <a:chOff x="0" y="0"/>
            <a:chExt cx="482256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2570" cy="406400"/>
            </a:xfrm>
            <a:custGeom>
              <a:avLst/>
              <a:gdLst/>
              <a:ahLst/>
              <a:cxnLst/>
              <a:rect r="r" b="b" t="t" l="l"/>
              <a:pathLst>
                <a:path h="406400" w="4822570">
                  <a:moveTo>
                    <a:pt x="4619370" y="0"/>
                  </a:moveTo>
                  <a:cubicBezTo>
                    <a:pt x="4731594" y="0"/>
                    <a:pt x="4822570" y="90976"/>
                    <a:pt x="4822570" y="203200"/>
                  </a:cubicBezTo>
                  <a:cubicBezTo>
                    <a:pt x="4822570" y="315424"/>
                    <a:pt x="4731594" y="406400"/>
                    <a:pt x="46193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22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54545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605.8 Average Spending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82130" y="8323548"/>
            <a:ext cx="7523741" cy="634029"/>
            <a:chOff x="0" y="0"/>
            <a:chExt cx="4822569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22570" cy="406400"/>
            </a:xfrm>
            <a:custGeom>
              <a:avLst/>
              <a:gdLst/>
              <a:ahLst/>
              <a:cxnLst/>
              <a:rect r="r" b="b" t="t" l="l"/>
              <a:pathLst>
                <a:path h="406400" w="4822570">
                  <a:moveTo>
                    <a:pt x="4619370" y="0"/>
                  </a:moveTo>
                  <a:cubicBezTo>
                    <a:pt x="4731594" y="0"/>
                    <a:pt x="4822570" y="90976"/>
                    <a:pt x="4822570" y="203200"/>
                  </a:cubicBezTo>
                  <a:cubicBezTo>
                    <a:pt x="4822570" y="315424"/>
                    <a:pt x="4731594" y="406400"/>
                    <a:pt x="46193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22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2389473"/>
            <a:ext cx="7523741" cy="634029"/>
            <a:chOff x="0" y="0"/>
            <a:chExt cx="4822569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2570" cy="406400"/>
            </a:xfrm>
            <a:custGeom>
              <a:avLst/>
              <a:gdLst/>
              <a:ahLst/>
              <a:cxnLst/>
              <a:rect r="r" b="b" t="t" l="l"/>
              <a:pathLst>
                <a:path h="406400" w="4822570">
                  <a:moveTo>
                    <a:pt x="4619370" y="0"/>
                  </a:moveTo>
                  <a:cubicBezTo>
                    <a:pt x="4731594" y="0"/>
                    <a:pt x="4822570" y="90976"/>
                    <a:pt x="4822570" y="203200"/>
                  </a:cubicBezTo>
                  <a:cubicBezTo>
                    <a:pt x="4822570" y="315424"/>
                    <a:pt x="4731594" y="406400"/>
                    <a:pt x="46193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822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54545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663 active customers in dataset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5559" y="2389473"/>
            <a:ext cx="7523741" cy="634029"/>
            <a:chOff x="0" y="0"/>
            <a:chExt cx="4822569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2570" cy="406400"/>
            </a:xfrm>
            <a:custGeom>
              <a:avLst/>
              <a:gdLst/>
              <a:ahLst/>
              <a:cxnLst/>
              <a:rect r="r" b="b" t="t" l="l"/>
              <a:pathLst>
                <a:path h="406400" w="4822570">
                  <a:moveTo>
                    <a:pt x="4619370" y="0"/>
                  </a:moveTo>
                  <a:cubicBezTo>
                    <a:pt x="4731594" y="0"/>
                    <a:pt x="4822570" y="90976"/>
                    <a:pt x="4822570" y="203200"/>
                  </a:cubicBezTo>
                  <a:cubicBezTo>
                    <a:pt x="4822570" y="315424"/>
                    <a:pt x="4731594" y="406400"/>
                    <a:pt x="46193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22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545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52K Annual household income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382130" y="8459905"/>
            <a:ext cx="75237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0.9% Customers with complaints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8287" y="6471211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0" y="0"/>
                </a:moveTo>
                <a:lnTo>
                  <a:pt x="31045746" y="0"/>
                </a:lnTo>
                <a:lnTo>
                  <a:pt x="31045746" y="5574178"/>
                </a:lnTo>
                <a:lnTo>
                  <a:pt x="0" y="55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75999">
            <a:off x="10025397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10935162" y="16994145"/>
                </a:moveTo>
                <a:lnTo>
                  <a:pt x="0" y="16994145"/>
                </a:lnTo>
                <a:lnTo>
                  <a:pt x="0" y="0"/>
                </a:lnTo>
                <a:lnTo>
                  <a:pt x="10935162" y="0"/>
                </a:lnTo>
                <a:lnTo>
                  <a:pt x="10935162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5455" y="-576286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0" y="0"/>
                </a:moveTo>
                <a:lnTo>
                  <a:pt x="2568310" y="0"/>
                </a:lnTo>
                <a:lnTo>
                  <a:pt x="2568310" y="2695746"/>
                </a:lnTo>
                <a:lnTo>
                  <a:pt x="0" y="2695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98098" y="3393529"/>
            <a:ext cx="208596" cy="2085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98098" y="8090330"/>
            <a:ext cx="834382" cy="752513"/>
          </a:xfrm>
          <a:custGeom>
            <a:avLst/>
            <a:gdLst/>
            <a:ahLst/>
            <a:cxnLst/>
            <a:rect r="r" b="b" t="t" l="l"/>
            <a:pathLst>
              <a:path h="752513" w="834382">
                <a:moveTo>
                  <a:pt x="0" y="0"/>
                </a:moveTo>
                <a:lnTo>
                  <a:pt x="834382" y="0"/>
                </a:lnTo>
                <a:lnTo>
                  <a:pt x="834382" y="752513"/>
                </a:lnTo>
                <a:lnTo>
                  <a:pt x="0" y="7525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98098" y="7512052"/>
            <a:ext cx="208596" cy="2085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8098" y="6455731"/>
            <a:ext cx="208596" cy="2085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8098" y="5401127"/>
            <a:ext cx="208596" cy="2085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8098" y="4335282"/>
            <a:ext cx="208596" cy="20859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450718" y="2558148"/>
            <a:ext cx="5479842" cy="5685957"/>
          </a:xfrm>
          <a:custGeom>
            <a:avLst/>
            <a:gdLst/>
            <a:ahLst/>
            <a:cxnLst/>
            <a:rect r="r" b="b" t="t" l="l"/>
            <a:pathLst>
              <a:path h="5685957" w="5479842">
                <a:moveTo>
                  <a:pt x="0" y="0"/>
                </a:moveTo>
                <a:lnTo>
                  <a:pt x="5479842" y="0"/>
                </a:lnTo>
                <a:lnTo>
                  <a:pt x="5479842" y="5685958"/>
                </a:lnTo>
                <a:lnTo>
                  <a:pt x="0" y="5685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280820" y="790637"/>
            <a:ext cx="6724429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13"/>
              </a:lnSpc>
            </a:pPr>
            <a:r>
              <a:rPr lang="en-US" b="true" sz="5100" spc="-214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KPI Calculations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9587" y="3160969"/>
            <a:ext cx="12199133" cy="464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0"/>
              </a:lnSpc>
            </a:pPr>
            <a:r>
              <a:rPr lang="en-US" sz="2921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Customers = COUNT(Customer_ID)</a:t>
            </a:r>
          </a:p>
          <a:p>
            <a:pPr algn="l">
              <a:lnSpc>
                <a:spcPts val="4090"/>
              </a:lnSpc>
            </a:pPr>
          </a:p>
          <a:p>
            <a:pPr algn="l">
              <a:lnSpc>
                <a:spcPts val="4090"/>
              </a:lnSpc>
            </a:pPr>
            <a:r>
              <a:rPr lang="en-US" sz="2921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Average Income = AVG(Income)</a:t>
            </a:r>
          </a:p>
          <a:p>
            <a:pPr algn="l">
              <a:lnSpc>
                <a:spcPts val="4090"/>
              </a:lnSpc>
            </a:pPr>
          </a:p>
          <a:p>
            <a:pPr algn="l">
              <a:lnSpc>
                <a:spcPts val="4090"/>
              </a:lnSpc>
            </a:pPr>
            <a:r>
              <a:rPr lang="en-US" sz="2921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Average Spending = AVG(Total_Spending)</a:t>
            </a:r>
          </a:p>
          <a:p>
            <a:pPr algn="l">
              <a:lnSpc>
                <a:spcPts val="4090"/>
              </a:lnSpc>
            </a:pPr>
          </a:p>
          <a:p>
            <a:pPr algn="l">
              <a:lnSpc>
                <a:spcPts val="4090"/>
              </a:lnSpc>
            </a:pPr>
            <a:r>
              <a:rPr lang="en-US" sz="2921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Response Rate = SUM(Response) / Total Customers *100</a:t>
            </a:r>
          </a:p>
          <a:p>
            <a:pPr algn="l">
              <a:lnSpc>
                <a:spcPts val="4090"/>
              </a:lnSpc>
            </a:pPr>
          </a:p>
          <a:p>
            <a:pPr algn="l">
              <a:lnSpc>
                <a:spcPts val="4090"/>
              </a:lnSpc>
              <a:spcBef>
                <a:spcPct val="0"/>
              </a:spcBef>
            </a:pPr>
            <a:r>
              <a:rPr lang="en-US" b="true" sz="292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Complaint Rate = SUM(Complain) / Total Customers* 100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526067" y="6202174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75999">
            <a:off x="-2672559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16994145"/>
                </a:moveTo>
                <a:lnTo>
                  <a:pt x="10935162" y="16994145"/>
                </a:lnTo>
                <a:lnTo>
                  <a:pt x="10935162" y="0"/>
                </a:lnTo>
                <a:lnTo>
                  <a:pt x="0" y="0"/>
                </a:lnTo>
                <a:lnTo>
                  <a:pt x="0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14861"/>
            <a:ext cx="8195820" cy="8180919"/>
          </a:xfrm>
          <a:custGeom>
            <a:avLst/>
            <a:gdLst/>
            <a:ahLst/>
            <a:cxnLst/>
            <a:rect r="r" b="b" t="t" l="l"/>
            <a:pathLst>
              <a:path h="8180919" w="8195820">
                <a:moveTo>
                  <a:pt x="0" y="0"/>
                </a:moveTo>
                <a:lnTo>
                  <a:pt x="8195820" y="0"/>
                </a:lnTo>
                <a:lnTo>
                  <a:pt x="8195820" y="8180919"/>
                </a:lnTo>
                <a:lnTo>
                  <a:pt x="0" y="8180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404" y="3021377"/>
            <a:ext cx="7909611" cy="5967886"/>
            <a:chOff x="0" y="0"/>
            <a:chExt cx="746704" cy="56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04" cy="563396"/>
            </a:xfrm>
            <a:custGeom>
              <a:avLst/>
              <a:gdLst/>
              <a:ahLst/>
              <a:cxnLst/>
              <a:rect r="r" b="b" t="t" l="l"/>
              <a:pathLst>
                <a:path h="563396" w="746704">
                  <a:moveTo>
                    <a:pt x="0" y="0"/>
                  </a:moveTo>
                  <a:lnTo>
                    <a:pt x="746704" y="0"/>
                  </a:lnTo>
                  <a:lnTo>
                    <a:pt x="746704" y="563396"/>
                  </a:lnTo>
                  <a:lnTo>
                    <a:pt x="0" y="563396"/>
                  </a:ln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704" cy="60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404" y="3401812"/>
            <a:ext cx="7889420" cy="5207017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003845" y="262640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2568310" y="0"/>
                </a:moveTo>
                <a:lnTo>
                  <a:pt x="0" y="0"/>
                </a:lnTo>
                <a:lnTo>
                  <a:pt x="0" y="2695746"/>
                </a:lnTo>
                <a:lnTo>
                  <a:pt x="2568310" y="2695746"/>
                </a:lnTo>
                <a:lnTo>
                  <a:pt x="256831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2983" y="3777987"/>
            <a:ext cx="7800262" cy="4454666"/>
          </a:xfrm>
          <a:custGeom>
            <a:avLst/>
            <a:gdLst/>
            <a:ahLst/>
            <a:cxnLst/>
            <a:rect r="r" b="b" t="t" l="l"/>
            <a:pathLst>
              <a:path h="4454666" w="7800262">
                <a:moveTo>
                  <a:pt x="0" y="0"/>
                </a:moveTo>
                <a:lnTo>
                  <a:pt x="7800262" y="0"/>
                </a:lnTo>
                <a:lnTo>
                  <a:pt x="7800262" y="4454666"/>
                </a:lnTo>
                <a:lnTo>
                  <a:pt x="0" y="4454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82" t="0" r="-168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13000" y="857276"/>
            <a:ext cx="1385239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Customer Segment Distribution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9576" y="2199208"/>
            <a:ext cx="9508424" cy="678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Customers were segmented based on spending behavior into High Value, Medium Value, and Low Value groups.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Low Value customers represent the largest customer segment.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Medium Value customers form the second largest group.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High Value customers represent the smallest segment.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Insight: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Although High Value customers are fewer in number, they contribute significantly to revenue generation. Low and Medium Value customers represent opportunities for targeted upselling and retention campaigns.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526067" y="6202174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75999">
            <a:off x="-2672559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16994145"/>
                </a:moveTo>
                <a:lnTo>
                  <a:pt x="10935162" y="16994145"/>
                </a:lnTo>
                <a:lnTo>
                  <a:pt x="10935162" y="0"/>
                </a:lnTo>
                <a:lnTo>
                  <a:pt x="0" y="0"/>
                </a:lnTo>
                <a:lnTo>
                  <a:pt x="0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14861"/>
            <a:ext cx="8195820" cy="8180919"/>
          </a:xfrm>
          <a:custGeom>
            <a:avLst/>
            <a:gdLst/>
            <a:ahLst/>
            <a:cxnLst/>
            <a:rect r="r" b="b" t="t" l="l"/>
            <a:pathLst>
              <a:path h="8180919" w="8195820">
                <a:moveTo>
                  <a:pt x="0" y="0"/>
                </a:moveTo>
                <a:lnTo>
                  <a:pt x="8195820" y="0"/>
                </a:lnTo>
                <a:lnTo>
                  <a:pt x="8195820" y="8180919"/>
                </a:lnTo>
                <a:lnTo>
                  <a:pt x="0" y="8180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404" y="3021377"/>
            <a:ext cx="7909611" cy="5967886"/>
            <a:chOff x="0" y="0"/>
            <a:chExt cx="746704" cy="56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04" cy="563396"/>
            </a:xfrm>
            <a:custGeom>
              <a:avLst/>
              <a:gdLst/>
              <a:ahLst/>
              <a:cxnLst/>
              <a:rect r="r" b="b" t="t" l="l"/>
              <a:pathLst>
                <a:path h="563396" w="746704">
                  <a:moveTo>
                    <a:pt x="0" y="0"/>
                  </a:moveTo>
                  <a:lnTo>
                    <a:pt x="746704" y="0"/>
                  </a:lnTo>
                  <a:lnTo>
                    <a:pt x="746704" y="563396"/>
                  </a:lnTo>
                  <a:lnTo>
                    <a:pt x="0" y="563396"/>
                  </a:ln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704" cy="60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404" y="3401812"/>
            <a:ext cx="7889420" cy="5207017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003845" y="262640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2568310" y="0"/>
                </a:moveTo>
                <a:lnTo>
                  <a:pt x="0" y="0"/>
                </a:lnTo>
                <a:lnTo>
                  <a:pt x="0" y="2695746"/>
                </a:lnTo>
                <a:lnTo>
                  <a:pt x="2568310" y="2695746"/>
                </a:lnTo>
                <a:lnTo>
                  <a:pt x="256831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0408" y="3744284"/>
            <a:ext cx="7847416" cy="4522074"/>
          </a:xfrm>
          <a:custGeom>
            <a:avLst/>
            <a:gdLst/>
            <a:ahLst/>
            <a:cxnLst/>
            <a:rect r="r" b="b" t="t" l="l"/>
            <a:pathLst>
              <a:path h="4522074" w="7847416">
                <a:moveTo>
                  <a:pt x="0" y="0"/>
                </a:moveTo>
                <a:lnTo>
                  <a:pt x="7847416" y="0"/>
                </a:lnTo>
                <a:lnTo>
                  <a:pt x="7847416" y="4522073"/>
                </a:lnTo>
                <a:lnTo>
                  <a:pt x="0" y="45220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667281" y="823593"/>
            <a:ext cx="13852398" cy="148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Average Income by Segment</a:t>
            </a:r>
          </a:p>
          <a:p>
            <a:pPr algn="l">
              <a:lnSpc>
                <a:spcPts val="581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541194" y="2262630"/>
            <a:ext cx="9508424" cy="759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A scatter plot was used to examine how customer income influences total spending.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Customers with higher incomes generally exhibit higher spending behavior.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A positive relationship exists between income and total spending.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Spending patterns vary across customer groups, indicating diverse purchasing behaviors.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Income is an important factor influencing customer purchasing power. Businesses can use income-based segmentation to create more effective marketing strategies and personalized offers.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526067" y="6202174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75999">
            <a:off x="-2672559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16994145"/>
                </a:moveTo>
                <a:lnTo>
                  <a:pt x="10935162" y="16994145"/>
                </a:lnTo>
                <a:lnTo>
                  <a:pt x="10935162" y="0"/>
                </a:lnTo>
                <a:lnTo>
                  <a:pt x="0" y="0"/>
                </a:lnTo>
                <a:lnTo>
                  <a:pt x="0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14861"/>
            <a:ext cx="8195820" cy="8180919"/>
          </a:xfrm>
          <a:custGeom>
            <a:avLst/>
            <a:gdLst/>
            <a:ahLst/>
            <a:cxnLst/>
            <a:rect r="r" b="b" t="t" l="l"/>
            <a:pathLst>
              <a:path h="8180919" w="8195820">
                <a:moveTo>
                  <a:pt x="0" y="0"/>
                </a:moveTo>
                <a:lnTo>
                  <a:pt x="8195820" y="0"/>
                </a:lnTo>
                <a:lnTo>
                  <a:pt x="8195820" y="8180919"/>
                </a:lnTo>
                <a:lnTo>
                  <a:pt x="0" y="8180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404" y="3021377"/>
            <a:ext cx="7909611" cy="5967886"/>
            <a:chOff x="0" y="0"/>
            <a:chExt cx="746704" cy="56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04" cy="563396"/>
            </a:xfrm>
            <a:custGeom>
              <a:avLst/>
              <a:gdLst/>
              <a:ahLst/>
              <a:cxnLst/>
              <a:rect r="r" b="b" t="t" l="l"/>
              <a:pathLst>
                <a:path h="563396" w="746704">
                  <a:moveTo>
                    <a:pt x="0" y="0"/>
                  </a:moveTo>
                  <a:lnTo>
                    <a:pt x="746704" y="0"/>
                  </a:lnTo>
                  <a:lnTo>
                    <a:pt x="746704" y="563396"/>
                  </a:lnTo>
                  <a:lnTo>
                    <a:pt x="0" y="563396"/>
                  </a:ln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704" cy="60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404" y="3401812"/>
            <a:ext cx="7889420" cy="5207017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003845" y="262640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2568310" y="0"/>
                </a:moveTo>
                <a:lnTo>
                  <a:pt x="0" y="0"/>
                </a:lnTo>
                <a:lnTo>
                  <a:pt x="0" y="2695746"/>
                </a:lnTo>
                <a:lnTo>
                  <a:pt x="2568310" y="2695746"/>
                </a:lnTo>
                <a:lnTo>
                  <a:pt x="256831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206" y="3624799"/>
            <a:ext cx="7316007" cy="4984030"/>
          </a:xfrm>
          <a:custGeom>
            <a:avLst/>
            <a:gdLst/>
            <a:ahLst/>
            <a:cxnLst/>
            <a:rect r="r" b="b" t="t" l="l"/>
            <a:pathLst>
              <a:path h="4984030" w="7316007">
                <a:moveTo>
                  <a:pt x="0" y="0"/>
                </a:moveTo>
                <a:lnTo>
                  <a:pt x="7316007" y="0"/>
                </a:lnTo>
                <a:lnTo>
                  <a:pt x="7316007" y="4984030"/>
                </a:lnTo>
                <a:lnTo>
                  <a:pt x="0" y="49840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667281" y="857276"/>
            <a:ext cx="1385239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Purchase Channel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9576" y="2199208"/>
            <a:ext cx="9508424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Customer purchasing activity was analyzed across Web, Store, and Catalog channels.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Store purchases account for the largest share of transactions.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Web purchases contribute significantly to customer activity.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Catalog purchases represent the smallest purchase channel.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Physical stores remain the dominant sales channel, while web purchases demonstrate strong digital engagement. Continued investment in both channels can help maximize customer reach and revenue.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526067" y="6202174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75999">
            <a:off x="-2672559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16994145"/>
                </a:moveTo>
                <a:lnTo>
                  <a:pt x="10935162" y="16994145"/>
                </a:lnTo>
                <a:lnTo>
                  <a:pt x="10935162" y="0"/>
                </a:lnTo>
                <a:lnTo>
                  <a:pt x="0" y="0"/>
                </a:lnTo>
                <a:lnTo>
                  <a:pt x="0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14861"/>
            <a:ext cx="8195820" cy="8180919"/>
          </a:xfrm>
          <a:custGeom>
            <a:avLst/>
            <a:gdLst/>
            <a:ahLst/>
            <a:cxnLst/>
            <a:rect r="r" b="b" t="t" l="l"/>
            <a:pathLst>
              <a:path h="8180919" w="8195820">
                <a:moveTo>
                  <a:pt x="0" y="0"/>
                </a:moveTo>
                <a:lnTo>
                  <a:pt x="8195820" y="0"/>
                </a:lnTo>
                <a:lnTo>
                  <a:pt x="8195820" y="8180919"/>
                </a:lnTo>
                <a:lnTo>
                  <a:pt x="0" y="8180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404" y="3021377"/>
            <a:ext cx="7909611" cy="5967886"/>
            <a:chOff x="0" y="0"/>
            <a:chExt cx="746704" cy="56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04" cy="563396"/>
            </a:xfrm>
            <a:custGeom>
              <a:avLst/>
              <a:gdLst/>
              <a:ahLst/>
              <a:cxnLst/>
              <a:rect r="r" b="b" t="t" l="l"/>
              <a:pathLst>
                <a:path h="563396" w="746704">
                  <a:moveTo>
                    <a:pt x="0" y="0"/>
                  </a:moveTo>
                  <a:lnTo>
                    <a:pt x="746704" y="0"/>
                  </a:lnTo>
                  <a:lnTo>
                    <a:pt x="746704" y="563396"/>
                  </a:lnTo>
                  <a:lnTo>
                    <a:pt x="0" y="563396"/>
                  </a:ln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704" cy="60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404" y="3401812"/>
            <a:ext cx="7889420" cy="5207017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003845" y="262640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2568310" y="0"/>
                </a:moveTo>
                <a:lnTo>
                  <a:pt x="0" y="0"/>
                </a:lnTo>
                <a:lnTo>
                  <a:pt x="0" y="2695746"/>
                </a:lnTo>
                <a:lnTo>
                  <a:pt x="2568310" y="2695746"/>
                </a:lnTo>
                <a:lnTo>
                  <a:pt x="256831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9453" y="3602696"/>
            <a:ext cx="7567322" cy="4805249"/>
          </a:xfrm>
          <a:custGeom>
            <a:avLst/>
            <a:gdLst/>
            <a:ahLst/>
            <a:cxnLst/>
            <a:rect r="r" b="b" t="t" l="l"/>
            <a:pathLst>
              <a:path h="4805249" w="7567322">
                <a:moveTo>
                  <a:pt x="0" y="0"/>
                </a:moveTo>
                <a:lnTo>
                  <a:pt x="7567322" y="0"/>
                </a:lnTo>
                <a:lnTo>
                  <a:pt x="7567322" y="4805249"/>
                </a:lnTo>
                <a:lnTo>
                  <a:pt x="0" y="4805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95820" y="857276"/>
            <a:ext cx="1385239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Customer Segment Response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7868" y="2272556"/>
            <a:ext cx="9508424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Campaign responses were evaluated across customer segments to understand customer engagement.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Low Value customers recorded the highest number of non-responses.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Response behavior is relatively balanced across segments.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High Value and Medium Value customers demonstrate meaningful campaign engagement.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The overall response rate of 50.38% indicates effective campaign performance. Personalized marketing campaigns can further improve conversion rates among low-response customer groups.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526067" y="6202174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31045746" y="0"/>
                </a:moveTo>
                <a:lnTo>
                  <a:pt x="0" y="0"/>
                </a:lnTo>
                <a:lnTo>
                  <a:pt x="0" y="5574178"/>
                </a:lnTo>
                <a:lnTo>
                  <a:pt x="31045746" y="5574178"/>
                </a:lnTo>
                <a:lnTo>
                  <a:pt x="31045746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75999">
            <a:off x="-2672559" y="-4495944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16994145"/>
                </a:moveTo>
                <a:lnTo>
                  <a:pt x="10935162" y="16994145"/>
                </a:lnTo>
                <a:lnTo>
                  <a:pt x="10935162" y="0"/>
                </a:lnTo>
                <a:lnTo>
                  <a:pt x="0" y="0"/>
                </a:lnTo>
                <a:lnTo>
                  <a:pt x="0" y="16994145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14861"/>
            <a:ext cx="8195820" cy="8180919"/>
          </a:xfrm>
          <a:custGeom>
            <a:avLst/>
            <a:gdLst/>
            <a:ahLst/>
            <a:cxnLst/>
            <a:rect r="r" b="b" t="t" l="l"/>
            <a:pathLst>
              <a:path h="8180919" w="8195820">
                <a:moveTo>
                  <a:pt x="0" y="0"/>
                </a:moveTo>
                <a:lnTo>
                  <a:pt x="8195820" y="0"/>
                </a:lnTo>
                <a:lnTo>
                  <a:pt x="8195820" y="8180919"/>
                </a:lnTo>
                <a:lnTo>
                  <a:pt x="0" y="8180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404" y="3021377"/>
            <a:ext cx="7909611" cy="5967886"/>
            <a:chOff x="0" y="0"/>
            <a:chExt cx="746704" cy="56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04" cy="563396"/>
            </a:xfrm>
            <a:custGeom>
              <a:avLst/>
              <a:gdLst/>
              <a:ahLst/>
              <a:cxnLst/>
              <a:rect r="r" b="b" t="t" l="l"/>
              <a:pathLst>
                <a:path h="563396" w="746704">
                  <a:moveTo>
                    <a:pt x="0" y="0"/>
                  </a:moveTo>
                  <a:lnTo>
                    <a:pt x="746704" y="0"/>
                  </a:lnTo>
                  <a:lnTo>
                    <a:pt x="746704" y="563396"/>
                  </a:lnTo>
                  <a:lnTo>
                    <a:pt x="0" y="563396"/>
                  </a:lnTo>
                  <a:close/>
                </a:path>
              </a:pathLst>
            </a:custGeom>
            <a:solidFill>
              <a:srgbClr val="A1B7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704" cy="60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404" y="3401812"/>
            <a:ext cx="7889420" cy="5207017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003845" y="262640"/>
            <a:ext cx="2568310" cy="2695746"/>
          </a:xfrm>
          <a:custGeom>
            <a:avLst/>
            <a:gdLst/>
            <a:ahLst/>
            <a:cxnLst/>
            <a:rect r="r" b="b" t="t" l="l"/>
            <a:pathLst>
              <a:path h="2695746" w="2568310">
                <a:moveTo>
                  <a:pt x="2568310" y="0"/>
                </a:moveTo>
                <a:lnTo>
                  <a:pt x="0" y="0"/>
                </a:lnTo>
                <a:lnTo>
                  <a:pt x="0" y="2695746"/>
                </a:lnTo>
                <a:lnTo>
                  <a:pt x="2568310" y="2695746"/>
                </a:lnTo>
                <a:lnTo>
                  <a:pt x="256831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1842" y="3645626"/>
            <a:ext cx="7642735" cy="4719389"/>
          </a:xfrm>
          <a:custGeom>
            <a:avLst/>
            <a:gdLst/>
            <a:ahLst/>
            <a:cxnLst/>
            <a:rect r="r" b="b" t="t" l="l"/>
            <a:pathLst>
              <a:path h="4719389" w="7642735">
                <a:moveTo>
                  <a:pt x="0" y="0"/>
                </a:moveTo>
                <a:lnTo>
                  <a:pt x="7642735" y="0"/>
                </a:lnTo>
                <a:lnTo>
                  <a:pt x="7642735" y="4719389"/>
                </a:lnTo>
                <a:lnTo>
                  <a:pt x="0" y="47193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42844" y="1047750"/>
            <a:ext cx="1385239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Complaint Distribution by Segment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86183" y="2764064"/>
            <a:ext cx="9508424" cy="598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Complaint rates were analyzed across customer segments to evaluate customer satisfaction.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Complaint rates remain extremely low across all customer groups.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Medium Value customers show slightly higher complaint levels.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High Value customers reported almost no complaints.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Insight: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The overall complaint rate of less than 1% suggests strong customer satisfaction and effective customer relationship management.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0045" y="5974716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0" y="0"/>
                </a:moveTo>
                <a:lnTo>
                  <a:pt x="31045746" y="0"/>
                </a:lnTo>
                <a:lnTo>
                  <a:pt x="31045746" y="5574177"/>
                </a:lnTo>
                <a:lnTo>
                  <a:pt x="0" y="5574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114206">
            <a:off x="-4926227" y="-2075750"/>
            <a:ext cx="11909854" cy="18399100"/>
          </a:xfrm>
          <a:custGeom>
            <a:avLst/>
            <a:gdLst/>
            <a:ahLst/>
            <a:cxnLst/>
            <a:rect r="r" b="b" t="t" l="l"/>
            <a:pathLst>
              <a:path h="18399100" w="11909854">
                <a:moveTo>
                  <a:pt x="0" y="18399101"/>
                </a:moveTo>
                <a:lnTo>
                  <a:pt x="11909854" y="18399101"/>
                </a:lnTo>
                <a:lnTo>
                  <a:pt x="11909854" y="0"/>
                </a:lnTo>
                <a:lnTo>
                  <a:pt x="0" y="0"/>
                </a:lnTo>
                <a:lnTo>
                  <a:pt x="0" y="18399101"/>
                </a:lnTo>
                <a:close/>
              </a:path>
            </a:pathLst>
          </a:custGeom>
          <a:blipFill>
            <a:blip r:embed="rId4"/>
            <a:stretch>
              <a:fillRect l="0" t="-47648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1708" y="1578697"/>
            <a:ext cx="7416777" cy="7403292"/>
          </a:xfrm>
          <a:custGeom>
            <a:avLst/>
            <a:gdLst/>
            <a:ahLst/>
            <a:cxnLst/>
            <a:rect r="r" b="b" t="t" l="l"/>
            <a:pathLst>
              <a:path h="7403292" w="7416777">
                <a:moveTo>
                  <a:pt x="0" y="0"/>
                </a:moveTo>
                <a:lnTo>
                  <a:pt x="7416778" y="0"/>
                </a:lnTo>
                <a:lnTo>
                  <a:pt x="7416778" y="7403293"/>
                </a:lnTo>
                <a:lnTo>
                  <a:pt x="0" y="7403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582" y="2582726"/>
            <a:ext cx="7759921" cy="5121548"/>
            <a:chOff x="0" y="0"/>
            <a:chExt cx="6350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93700"/>
                  </a:lnTo>
                  <a:cubicBezTo>
                    <a:pt x="635000" y="407728"/>
                    <a:pt x="623628" y="419100"/>
                    <a:pt x="609600" y="419100"/>
                  </a:cubicBezTo>
                  <a:lnTo>
                    <a:pt x="25400" y="419100"/>
                  </a:lnTo>
                  <a:cubicBezTo>
                    <a:pt x="11372" y="419100"/>
                    <a:pt x="0" y="407728"/>
                    <a:pt x="0" y="3937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736518" y="1247975"/>
            <a:ext cx="4391269" cy="7759921"/>
            <a:chOff x="0" y="0"/>
            <a:chExt cx="556483" cy="983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6483" cy="983376"/>
            </a:xfrm>
            <a:custGeom>
              <a:avLst/>
              <a:gdLst/>
              <a:ahLst/>
              <a:cxnLst/>
              <a:rect r="r" b="b" t="t" l="l"/>
              <a:pathLst>
                <a:path h="983376" w="556483">
                  <a:moveTo>
                    <a:pt x="0" y="0"/>
                  </a:moveTo>
                  <a:lnTo>
                    <a:pt x="556483" y="0"/>
                  </a:lnTo>
                  <a:lnTo>
                    <a:pt x="556483" y="983376"/>
                  </a:lnTo>
                  <a:lnTo>
                    <a:pt x="0" y="98337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56483" cy="1021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971967" y="355849"/>
            <a:ext cx="2574665" cy="2702416"/>
          </a:xfrm>
          <a:custGeom>
            <a:avLst/>
            <a:gdLst/>
            <a:ahLst/>
            <a:cxnLst/>
            <a:rect r="r" b="b" t="t" l="l"/>
            <a:pathLst>
              <a:path h="2702416" w="2574665">
                <a:moveTo>
                  <a:pt x="0" y="0"/>
                </a:moveTo>
                <a:lnTo>
                  <a:pt x="2574666" y="0"/>
                </a:lnTo>
                <a:lnTo>
                  <a:pt x="2574666" y="2702415"/>
                </a:lnTo>
                <a:lnTo>
                  <a:pt x="0" y="2702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192" y="3137441"/>
            <a:ext cx="7704147" cy="3847166"/>
          </a:xfrm>
          <a:custGeom>
            <a:avLst/>
            <a:gdLst/>
            <a:ahLst/>
            <a:cxnLst/>
            <a:rect r="r" b="b" t="t" l="l"/>
            <a:pathLst>
              <a:path h="3847166" w="7704147">
                <a:moveTo>
                  <a:pt x="0" y="0"/>
                </a:moveTo>
                <a:lnTo>
                  <a:pt x="7704147" y="0"/>
                </a:lnTo>
                <a:lnTo>
                  <a:pt x="7704147" y="3847166"/>
                </a:lnTo>
                <a:lnTo>
                  <a:pt x="0" y="3847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24599" y="825460"/>
            <a:ext cx="7334701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 spc="-214" b="true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Hypothesis Testing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7754" y="2355851"/>
            <a:ext cx="8801546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Null Hypothesis (H₀):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Customer income has no significant effect on total spending.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Alternative Hypothesis (H₁):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Customer income significantly affects total spending.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Median Income = 51,381.5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T-Statistic = 52.4418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P-Value = 0.0000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Since the p-value is less than 0.05, </a:t>
            </a:r>
            <a:r>
              <a:rPr lang="en-US" sz="2300" b="true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null hypothesis was rejected</a:t>
            </a:r>
            <a:r>
              <a:rPr lang="en-US" sz="23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. The analysis confirms that higher-income customers spend significantly more than lower-income customers.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452327" y="-708651"/>
            <a:ext cx="2574665" cy="2702416"/>
          </a:xfrm>
          <a:custGeom>
            <a:avLst/>
            <a:gdLst/>
            <a:ahLst/>
            <a:cxnLst/>
            <a:rect r="r" b="b" t="t" l="l"/>
            <a:pathLst>
              <a:path h="2702416" w="2574665">
                <a:moveTo>
                  <a:pt x="0" y="0"/>
                </a:moveTo>
                <a:lnTo>
                  <a:pt x="2574665" y="0"/>
                </a:lnTo>
                <a:lnTo>
                  <a:pt x="2574665" y="2702415"/>
                </a:lnTo>
                <a:lnTo>
                  <a:pt x="0" y="2702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4115999">
            <a:off x="10983602" y="-2537510"/>
            <a:ext cx="11909854" cy="18399100"/>
          </a:xfrm>
          <a:custGeom>
            <a:avLst/>
            <a:gdLst/>
            <a:ahLst/>
            <a:cxnLst/>
            <a:rect r="r" b="b" t="t" l="l"/>
            <a:pathLst>
              <a:path h="18399100" w="11909854">
                <a:moveTo>
                  <a:pt x="11909854" y="18399100"/>
                </a:moveTo>
                <a:lnTo>
                  <a:pt x="0" y="18399100"/>
                </a:lnTo>
                <a:lnTo>
                  <a:pt x="0" y="0"/>
                </a:lnTo>
                <a:lnTo>
                  <a:pt x="11909854" y="0"/>
                </a:lnTo>
                <a:lnTo>
                  <a:pt x="11909854" y="18399100"/>
                </a:lnTo>
                <a:close/>
              </a:path>
            </a:pathLst>
          </a:custGeom>
          <a:blipFill>
            <a:blip r:embed="rId2"/>
            <a:stretch>
              <a:fillRect l="0" t="-47648" r="-3476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7688" y="1102211"/>
            <a:ext cx="8687893" cy="8672097"/>
          </a:xfrm>
          <a:custGeom>
            <a:avLst/>
            <a:gdLst/>
            <a:ahLst/>
            <a:cxnLst/>
            <a:rect r="r" b="b" t="t" l="l"/>
            <a:pathLst>
              <a:path h="8672097" w="8687893">
                <a:moveTo>
                  <a:pt x="0" y="0"/>
                </a:moveTo>
                <a:lnTo>
                  <a:pt x="8687893" y="0"/>
                </a:lnTo>
                <a:lnTo>
                  <a:pt x="8687893" y="8672097"/>
                </a:lnTo>
                <a:lnTo>
                  <a:pt x="0" y="8672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79251" y="1606915"/>
            <a:ext cx="7651385" cy="765138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4526" lIns="54526" bIns="54526" rIns="54526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11220354" y="1932987"/>
            <a:ext cx="7010544" cy="70105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4526" lIns="54526" bIns="54526" rIns="54526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-233811" y="306519"/>
            <a:ext cx="2230122" cy="2340777"/>
          </a:xfrm>
          <a:custGeom>
            <a:avLst/>
            <a:gdLst/>
            <a:ahLst/>
            <a:cxnLst/>
            <a:rect r="r" b="b" t="t" l="l"/>
            <a:pathLst>
              <a:path h="2340777" w="2230122">
                <a:moveTo>
                  <a:pt x="2230122" y="0"/>
                </a:moveTo>
                <a:lnTo>
                  <a:pt x="0" y="0"/>
                </a:lnTo>
                <a:lnTo>
                  <a:pt x="0" y="2340777"/>
                </a:lnTo>
                <a:lnTo>
                  <a:pt x="2230122" y="2340777"/>
                </a:lnTo>
                <a:lnTo>
                  <a:pt x="2230122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35321" y="8008809"/>
            <a:ext cx="9280208" cy="1047150"/>
            <a:chOff x="0" y="0"/>
            <a:chExt cx="2444170" cy="2757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4170" cy="275792"/>
            </a:xfrm>
            <a:custGeom>
              <a:avLst/>
              <a:gdLst/>
              <a:ahLst/>
              <a:cxnLst/>
              <a:rect r="r" b="b" t="t" l="l"/>
              <a:pathLst>
                <a:path h="275792" w="2444170">
                  <a:moveTo>
                    <a:pt x="29198" y="0"/>
                  </a:moveTo>
                  <a:lnTo>
                    <a:pt x="2414972" y="0"/>
                  </a:lnTo>
                  <a:cubicBezTo>
                    <a:pt x="2431097" y="0"/>
                    <a:pt x="2444170" y="13073"/>
                    <a:pt x="2444170" y="29198"/>
                  </a:cubicBezTo>
                  <a:lnTo>
                    <a:pt x="2444170" y="246594"/>
                  </a:lnTo>
                  <a:cubicBezTo>
                    <a:pt x="2444170" y="254338"/>
                    <a:pt x="2441094" y="261765"/>
                    <a:pt x="2435618" y="267240"/>
                  </a:cubicBezTo>
                  <a:cubicBezTo>
                    <a:pt x="2430142" y="272716"/>
                    <a:pt x="2422715" y="275792"/>
                    <a:pt x="2414972" y="275792"/>
                  </a:cubicBezTo>
                  <a:lnTo>
                    <a:pt x="29198" y="275792"/>
                  </a:lnTo>
                  <a:cubicBezTo>
                    <a:pt x="21455" y="275792"/>
                    <a:pt x="14028" y="272716"/>
                    <a:pt x="8552" y="267240"/>
                  </a:cubicBezTo>
                  <a:cubicBezTo>
                    <a:pt x="3076" y="261765"/>
                    <a:pt x="0" y="254338"/>
                    <a:pt x="0" y="246594"/>
                  </a:cubicBezTo>
                  <a:lnTo>
                    <a:pt x="0" y="29198"/>
                  </a:lnTo>
                  <a:cubicBezTo>
                    <a:pt x="0" y="21455"/>
                    <a:pt x="3076" y="14028"/>
                    <a:pt x="8552" y="8552"/>
                  </a:cubicBezTo>
                  <a:cubicBezTo>
                    <a:pt x="14028" y="3076"/>
                    <a:pt x="21455" y="0"/>
                    <a:pt x="291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44170" cy="313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981693" y="3339478"/>
            <a:ext cx="7010544" cy="4197564"/>
          </a:xfrm>
          <a:custGeom>
            <a:avLst/>
            <a:gdLst/>
            <a:ahLst/>
            <a:cxnLst/>
            <a:rect r="r" b="b" t="t" l="l"/>
            <a:pathLst>
              <a:path h="4197564" w="7010544">
                <a:moveTo>
                  <a:pt x="0" y="0"/>
                </a:moveTo>
                <a:lnTo>
                  <a:pt x="7010544" y="0"/>
                </a:lnTo>
                <a:lnTo>
                  <a:pt x="7010544" y="4197563"/>
                </a:lnTo>
                <a:lnTo>
                  <a:pt x="0" y="4197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43369" y="1000393"/>
            <a:ext cx="4778492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4"/>
              </a:lnSpc>
            </a:pPr>
            <a:r>
              <a:rPr lang="en-US" b="true" sz="5100" spc="-214">
                <a:solidFill>
                  <a:srgbClr val="545454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321" y="2609196"/>
            <a:ext cx="8578295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This project leveraged customer segmentation and marketing analytics to uncover key patterns in customer behavior, spending, and engagement.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The analysis showed that income significantly influences spending, while customer segmentation and purchase channel analysis provided valuable insights for targeted marketing strategies.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Overall, the dashboard and statistical validation demonstrate how data-driven decision-making can improve customer engagement, marketing effectiveness, and business growth.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162" y="8131698"/>
            <a:ext cx="874452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Understanding customer behavior through analytics enables smarter marketing decisions and stronger customer relationships.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4775709">
            <a:off x="536456" y="8237445"/>
            <a:ext cx="632166" cy="589878"/>
          </a:xfrm>
          <a:custGeom>
            <a:avLst/>
            <a:gdLst/>
            <a:ahLst/>
            <a:cxnLst/>
            <a:rect r="r" b="b" t="t" l="l"/>
            <a:pathLst>
              <a:path h="589878" w="632166">
                <a:moveTo>
                  <a:pt x="0" y="0"/>
                </a:moveTo>
                <a:lnTo>
                  <a:pt x="632165" y="0"/>
                </a:lnTo>
                <a:lnTo>
                  <a:pt x="632165" y="589877"/>
                </a:lnTo>
                <a:lnTo>
                  <a:pt x="0" y="5898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5479" y="5192036"/>
            <a:ext cx="31045746" cy="5574178"/>
          </a:xfrm>
          <a:custGeom>
            <a:avLst/>
            <a:gdLst/>
            <a:ahLst/>
            <a:cxnLst/>
            <a:rect r="r" b="b" t="t" l="l"/>
            <a:pathLst>
              <a:path h="5574178" w="31045746">
                <a:moveTo>
                  <a:pt x="0" y="0"/>
                </a:moveTo>
                <a:lnTo>
                  <a:pt x="31045746" y="0"/>
                </a:lnTo>
                <a:lnTo>
                  <a:pt x="31045746" y="5574178"/>
                </a:lnTo>
                <a:lnTo>
                  <a:pt x="0" y="55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553">
            <a:off x="-2850713" y="-2627802"/>
            <a:ext cx="10935162" cy="16994145"/>
          </a:xfrm>
          <a:custGeom>
            <a:avLst/>
            <a:gdLst/>
            <a:ahLst/>
            <a:cxnLst/>
            <a:rect r="r" b="b" t="t" l="l"/>
            <a:pathLst>
              <a:path h="16994145" w="10935162">
                <a:moveTo>
                  <a:pt x="0" y="0"/>
                </a:moveTo>
                <a:lnTo>
                  <a:pt x="10935163" y="0"/>
                </a:lnTo>
                <a:lnTo>
                  <a:pt x="10935163" y="16994146"/>
                </a:lnTo>
                <a:lnTo>
                  <a:pt x="0" y="16994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772" r="-347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69266" y="788299"/>
            <a:ext cx="3242997" cy="3403909"/>
          </a:xfrm>
          <a:custGeom>
            <a:avLst/>
            <a:gdLst/>
            <a:ahLst/>
            <a:cxnLst/>
            <a:rect r="r" b="b" t="t" l="l"/>
            <a:pathLst>
              <a:path h="3403909" w="3242997">
                <a:moveTo>
                  <a:pt x="0" y="0"/>
                </a:moveTo>
                <a:lnTo>
                  <a:pt x="3242997" y="0"/>
                </a:lnTo>
                <a:lnTo>
                  <a:pt x="3242997" y="3403910"/>
                </a:lnTo>
                <a:lnTo>
                  <a:pt x="0" y="3403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506068">
            <a:off x="-667528" y="-4359305"/>
            <a:ext cx="6126527" cy="9521129"/>
          </a:xfrm>
          <a:custGeom>
            <a:avLst/>
            <a:gdLst/>
            <a:ahLst/>
            <a:cxnLst/>
            <a:rect r="r" b="b" t="t" l="l"/>
            <a:pathLst>
              <a:path h="9521129" w="6126527">
                <a:moveTo>
                  <a:pt x="0" y="9521128"/>
                </a:moveTo>
                <a:lnTo>
                  <a:pt x="6126527" y="9521128"/>
                </a:lnTo>
                <a:lnTo>
                  <a:pt x="6126527" y="0"/>
                </a:lnTo>
                <a:lnTo>
                  <a:pt x="0" y="0"/>
                </a:lnTo>
                <a:lnTo>
                  <a:pt x="0" y="9521128"/>
                </a:lnTo>
                <a:close/>
              </a:path>
            </a:pathLst>
          </a:custGeom>
          <a:blipFill>
            <a:blip r:embed="rId7"/>
            <a:stretch>
              <a:fillRect l="0" t="-46772" r="-3476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95368" y="1028700"/>
            <a:ext cx="8496974" cy="8481525"/>
          </a:xfrm>
          <a:custGeom>
            <a:avLst/>
            <a:gdLst/>
            <a:ahLst/>
            <a:cxnLst/>
            <a:rect r="r" b="b" t="t" l="l"/>
            <a:pathLst>
              <a:path h="8481525" w="8496974">
                <a:moveTo>
                  <a:pt x="0" y="0"/>
                </a:moveTo>
                <a:lnTo>
                  <a:pt x="8496974" y="0"/>
                </a:lnTo>
                <a:lnTo>
                  <a:pt x="8496974" y="8481525"/>
                </a:lnTo>
                <a:lnTo>
                  <a:pt x="0" y="8481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0739" y="1549656"/>
            <a:ext cx="7284760" cy="72847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415473" y="1854391"/>
            <a:ext cx="6675291" cy="66752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1303" y="2100220"/>
            <a:ext cx="6183633" cy="6183633"/>
            <a:chOff x="0" y="0"/>
            <a:chExt cx="812800" cy="812800"/>
          </a:xfrm>
        </p:grpSpPr>
        <p:sp>
          <p:nvSpPr>
            <p:cNvPr name="Freeform 14" id="14">
              <a:hlinkClick r:id="rId9" tooltip="https://cloudinary.hbs.edu/hbsit/image/fetch/q_auto,c_fill,ar_902:600,g_auto/f_webp/https%3A%2F%2Fwww.hbs.edu%2Fctfassets%2Fpublic%2Fimages%2F1vkR2bpEySxuPwivmh53dR%2FData%252520Visualization.jpg"/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5187" t="0" r="-25187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146975" y="5642256"/>
            <a:ext cx="4423171" cy="4415129"/>
          </a:xfrm>
          <a:custGeom>
            <a:avLst/>
            <a:gdLst/>
            <a:ahLst/>
            <a:cxnLst/>
            <a:rect r="r" b="b" t="t" l="l"/>
            <a:pathLst>
              <a:path h="4415129" w="4423171">
                <a:moveTo>
                  <a:pt x="0" y="0"/>
                </a:moveTo>
                <a:lnTo>
                  <a:pt x="4423171" y="0"/>
                </a:lnTo>
                <a:lnTo>
                  <a:pt x="4423171" y="4415129"/>
                </a:lnTo>
                <a:lnTo>
                  <a:pt x="0" y="4415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510442" y="5962416"/>
            <a:ext cx="3696238" cy="369623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4665062" y="6117037"/>
            <a:ext cx="3386997" cy="338699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89794" y="6241769"/>
            <a:ext cx="3137533" cy="313753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31135" t="0" r="-31135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9741586" y="7091389"/>
            <a:ext cx="717894" cy="719146"/>
          </a:xfrm>
          <a:custGeom>
            <a:avLst/>
            <a:gdLst/>
            <a:ahLst/>
            <a:cxnLst/>
            <a:rect r="r" b="b" t="t" l="l"/>
            <a:pathLst>
              <a:path h="719146" w="717894">
                <a:moveTo>
                  <a:pt x="0" y="0"/>
                </a:moveTo>
                <a:lnTo>
                  <a:pt x="717894" y="0"/>
                </a:lnTo>
                <a:lnTo>
                  <a:pt x="717894" y="719146"/>
                </a:lnTo>
                <a:lnTo>
                  <a:pt x="0" y="7191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09190" b="-110355"/>
            </a:stretch>
          </a:blipFill>
        </p:spPr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053869" y="7194875"/>
            <a:ext cx="4238164" cy="3279084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7395499" y="1200364"/>
            <a:ext cx="10048952" cy="326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95"/>
              </a:lnSpc>
            </a:pPr>
            <a:r>
              <a:rPr lang="en-US" b="true" sz="22364" spc="-939">
                <a:gradFill>
                  <a:gsLst>
                    <a:gs pos="0">
                      <a:srgbClr val="7794B6">
                        <a:alpha val="100000"/>
                      </a:srgbClr>
                    </a:gs>
                    <a:gs pos="100000">
                      <a:srgbClr val="DFFAFF">
                        <a:alpha val="100000"/>
                      </a:srgbClr>
                    </a:gs>
                  </a:gsLst>
                  <a:lin ang="1890000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THANK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05372" y="4154818"/>
            <a:ext cx="7253928" cy="329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23"/>
              </a:lnSpc>
            </a:pPr>
            <a:r>
              <a:rPr lang="en-US" b="true" sz="22564" spc="-947">
                <a:gradFill>
                  <a:gsLst>
                    <a:gs pos="0">
                      <a:srgbClr val="7794B6">
                        <a:alpha val="100000"/>
                      </a:srgbClr>
                    </a:gs>
                    <a:gs pos="100000">
                      <a:srgbClr val="DFFAFF">
                        <a:alpha val="100000"/>
                      </a:srgbClr>
                    </a:gs>
                  </a:gsLst>
                  <a:lin ang="1890000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DAHLDqQeEmM</dc:identifier>
  <dcterms:modified xsi:type="dcterms:W3CDTF">2011-08-01T06:04:30Z</dcterms:modified>
  <cp:revision>1</cp:revision>
  <dc:title>Understanding Marketing trends and Performance</dc:title>
</cp:coreProperties>
</file>